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2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0651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MUSES stands for Multimodal Universal Sense &amp; Simulation Engine. It's a groundbreaking AI platform driven by Gemini 3 technology. MUSES facilitates real-time understanding, perception, and guidance in various contexts like video and motion. Its significance lies in the ability to connect AI capabilities directly with human experiences in the physical world, unlike traditional AI systems confined to chat interfaces.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explores the significant limitations of current AI technologies. Traditional AI struggles with engaging and understanding the dynamic physical world, thus remaining mostly passive. While humans possess rich intuition and real-world experience, AI tools have not evolved to match this level of interaction. The launch of Gemini 3 represents a significant step forward, enhancing AI's ability to reason in alignment with human thoughts, improving the potential for meaningful engagements.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differentiator of MUSES lies in its unique ability to provide all essential functionalities under one integrated AI system. This ensures that users can benefit from a cohesive experience, engaging with diverse applications like sports analysis, cooking assistance, and driving simulations without the complexity of using multiple separate tools. This comprehensive approach gives MUSES a significant advantage in functionality and usability.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MUSES operates, starting with the user flow where individuals can choose to log in or access the system as guests. They select a mode such as Sports or Safety and upload content like videos or images. Next, Gemini 3 processes this content in real time, allowing it to detect objects, reason about their actions, and simulate alternatives, delivering the output through visual and audio means. The low latency and context-aware feedback give users an experience that feels almost magical.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Gemini 3 is a groundbreaking technology that integrates various forms of data, offering functions like multimodal reasoning and low-latency feedback. These capabilities not only enhance understanding and prediction but also guide interactions effectively. This makes it superior to other models, which may only describe rather than truly understand.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impact of MUSES can be seen through early benchmarks across several areas. There’s a marked reduction in risky driving behaviors, alongside improvements in sports techniques, interview confidence, food waste management, and faster skill acquisition. MUSES is also strategically positioned within expansive market segments, with a combined total addressable market of over $135 billion. This diverse market opportunity showcases the potential and versatility of the MUSES platform.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business model is structured around different revenue streams, including a freemium model that provides basic access and a Pro plan priced at $10 monthly, along with enterprise options starting at $1,000 for institutions. The model's scalability hinges on one core intelligence that facilitates expansion into various new technologies, such as AR glasses and smart cities. Aiming for a mere 1% market capture poses a $1.35 billion revenue opportunity.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image portraying the integration of advanced technologies in a city setting will enhance the understanding of MUSES' future plans. This visual will serve as an engaging backdrop to reinforce the concepts shared in the presentation, depicting how seamlessly technology can enhance everyday life.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Appreciate the audience for their time and engagement. Highlight the importance of collaboration and express eagerness for future opportunities.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90600" y="1587500"/>
            <a:ext cx="6756400" cy="1092200"/>
          </a:xfrm>
          <a:prstGeom prst="rect">
            <a:avLst/>
          </a:prstGeom>
          <a:noFill/>
        </p:spPr>
        <p:txBody>
          <a:bodyPr wrap="square" lIns="0" tIns="0" rIns="0" bIns="0">
            <a:spAutoFit/>
          </a:bodyPr>
          <a:lstStyle/>
          <a:p>
            <a:pPr algn="l">
              <a:lnSpc>
                <a:spcPct val="80000"/>
              </a:lnSpc>
              <a:defRPr sz="7900" b="1" i="0">
                <a:solidFill>
                  <a:srgbClr val="454A80"/>
                </a:solidFill>
                <a:latin typeface="__Nunito_Sans_dc5584"/>
              </a:defRPr>
            </a:pPr>
            <a:r>
              <a:rPr sz="7900" b="1" i="0">
                <a:solidFill>
                  <a:srgbClr val="454A80"/>
                </a:solidFill>
                <a:latin typeface="__Nunito_Sans_dc5584"/>
              </a:rPr>
              <a:t>MUSES</a:t>
            </a:r>
          </a:p>
        </p:txBody>
      </p:sp>
      <p:sp>
        <p:nvSpPr>
          <p:cNvPr id="3" name="TextBox 2"/>
          <p:cNvSpPr txBox="1"/>
          <p:nvPr/>
        </p:nvSpPr>
        <p:spPr>
          <a:xfrm>
            <a:off x="990600" y="3060700"/>
            <a:ext cx="6756400" cy="1092200"/>
          </a:xfrm>
          <a:prstGeom prst="rect">
            <a:avLst/>
          </a:prstGeom>
          <a:noFill/>
        </p:spPr>
        <p:txBody>
          <a:bodyPr wrap="square" lIns="0" tIns="0" rIns="0" bIns="0">
            <a:spAutoFit/>
          </a:bodyPr>
          <a:lstStyle/>
          <a:p>
            <a:pPr algn="l">
              <a:lnSpc>
                <a:spcPct val="80000"/>
              </a:lnSpc>
              <a:defRPr sz="3900" b="0" i="0">
                <a:solidFill>
                  <a:srgbClr val="101214"/>
                </a:solidFill>
                <a:latin typeface="__Nunito_Sans_dc5584"/>
              </a:defRPr>
            </a:pPr>
            <a:r>
              <a:rPr sz="3900" b="0" i="0">
                <a:solidFill>
                  <a:srgbClr val="101214"/>
                </a:solidFill>
                <a:latin typeface="__Nunito_Sans_dc5584"/>
              </a:rPr>
              <a:t>AI that sees, understands, and acts in the real world.</a:t>
            </a:r>
          </a:p>
        </p:txBody>
      </p:sp>
      <p:sp>
        <p:nvSpPr>
          <p:cNvPr id="4" name="TextBox 3"/>
          <p:cNvSpPr txBox="1"/>
          <p:nvPr/>
        </p:nvSpPr>
        <p:spPr>
          <a:xfrm>
            <a:off x="990600" y="7518400"/>
            <a:ext cx="6362700" cy="609600"/>
          </a:xfrm>
          <a:prstGeom prst="rect">
            <a:avLst/>
          </a:prstGeom>
          <a:noFill/>
        </p:spPr>
        <p:txBody>
          <a:bodyPr wrap="square" lIns="0" tIns="0" rIns="0" bIns="0">
            <a:spAutoFit/>
          </a:bodyPr>
          <a:lstStyle/>
          <a:p>
            <a:pPr algn="l">
              <a:lnSpc>
                <a:spcPct val="50000"/>
              </a:lnSpc>
              <a:defRPr sz="3000" b="0" i="0">
                <a:solidFill>
                  <a:srgbClr val="626F86"/>
                </a:solidFill>
                <a:latin typeface="__Nunito_Sans_dc5584"/>
              </a:defRPr>
            </a:pPr>
            <a:r>
              <a:rPr sz="3000" b="0" i="0">
                <a:solidFill>
                  <a:srgbClr val="626F86"/>
                </a:solidFill>
                <a:latin typeface="__Nunito_Sans_dc5584"/>
              </a:rPr>
              <a:t>A next-generation multimodal AI platform.</a:t>
            </a:r>
          </a:p>
        </p:txBody>
      </p:sp>
      <p:sp>
        <p:nvSpPr>
          <p:cNvPr id="5" name="Rounded Rectangle 4"/>
          <p:cNvSpPr/>
          <p:nvPr/>
        </p:nvSpPr>
        <p:spPr>
          <a:xfrm>
            <a:off x="8407400" y="-25400"/>
            <a:ext cx="9194800" cy="9194800"/>
          </a:xfrm>
          <a:prstGeom prst="roundRect">
            <a:avLst>
              <a:gd name="adj" fmla="val 7071"/>
            </a:avLst>
          </a:prstGeom>
          <a:solidFill>
            <a:srgbClr val="D9D9D9"/>
          </a:solidFill>
          <a:ln w="292100">
            <a:solidFill>
              <a:srgbClr val="7678B6"/>
            </a:solidFill>
          </a:ln>
          <a:effectLst>
            <a:outerShdw blurRad="635000" dist="317500" dir="90000"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6" name="Picture 5" descr="bcb831b4-b46d-4df6-aa6a-fa1eb193a984.png"/>
          <p:cNvPicPr>
            <a:picLocks noChangeAspect="1"/>
          </p:cNvPicPr>
          <p:nvPr/>
        </p:nvPicPr>
        <p:blipFill>
          <a:blip r:embed="rId3"/>
          <a:stretch>
            <a:fillRect/>
          </a:stretch>
        </p:blipFill>
        <p:spPr>
          <a:xfrm>
            <a:off x="8801100" y="368300"/>
            <a:ext cx="8407400" cy="8407400"/>
          </a:xfrm>
          <a:prstGeom prst="rect">
            <a:avLst/>
          </a:prstGeom>
        </p:spPr>
      </p:pic>
      <p:sp>
        <p:nvSpPr>
          <p:cNvPr id="8" name="Rounded Rectangle 7"/>
          <p:cNvSpPr/>
          <p:nvPr/>
        </p:nvSpPr>
        <p:spPr>
          <a:xfrm>
            <a:off x="9702800" y="7658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Rounded Rectangle 8"/>
          <p:cNvSpPr/>
          <p:nvPr/>
        </p:nvSpPr>
        <p:spPr>
          <a:xfrm>
            <a:off x="9423400" y="7937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ounded Rectangle 9"/>
          <p:cNvSpPr/>
          <p:nvPr/>
        </p:nvSpPr>
        <p:spPr>
          <a:xfrm>
            <a:off x="9702800" y="7937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ounded Rectangle 10"/>
          <p:cNvSpPr/>
          <p:nvPr/>
        </p:nvSpPr>
        <p:spPr>
          <a:xfrm>
            <a:off x="9994900" y="7937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ounded Rectangle 11"/>
          <p:cNvSpPr/>
          <p:nvPr/>
        </p:nvSpPr>
        <p:spPr>
          <a:xfrm>
            <a:off x="91313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Rounded Rectangle 12"/>
          <p:cNvSpPr/>
          <p:nvPr/>
        </p:nvSpPr>
        <p:spPr>
          <a:xfrm>
            <a:off x="94234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ounded Rectangle 13"/>
          <p:cNvSpPr/>
          <p:nvPr/>
        </p:nvSpPr>
        <p:spPr>
          <a:xfrm>
            <a:off x="97028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ounded Rectangle 14"/>
          <p:cNvSpPr/>
          <p:nvPr/>
        </p:nvSpPr>
        <p:spPr>
          <a:xfrm>
            <a:off x="99949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ounded Rectangle 15"/>
          <p:cNvSpPr/>
          <p:nvPr/>
        </p:nvSpPr>
        <p:spPr>
          <a:xfrm>
            <a:off x="102743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88519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ounded Rectangle 17"/>
          <p:cNvSpPr/>
          <p:nvPr/>
        </p:nvSpPr>
        <p:spPr>
          <a:xfrm>
            <a:off x="91313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ounded Rectangle 18"/>
          <p:cNvSpPr/>
          <p:nvPr/>
        </p:nvSpPr>
        <p:spPr>
          <a:xfrm>
            <a:off x="94234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ounded Rectangle 19"/>
          <p:cNvSpPr/>
          <p:nvPr/>
        </p:nvSpPr>
        <p:spPr>
          <a:xfrm>
            <a:off x="97028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ounded Rectangle 20"/>
          <p:cNvSpPr/>
          <p:nvPr/>
        </p:nvSpPr>
        <p:spPr>
          <a:xfrm>
            <a:off x="99949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ounded Rectangle 21"/>
          <p:cNvSpPr/>
          <p:nvPr/>
        </p:nvSpPr>
        <p:spPr>
          <a:xfrm>
            <a:off x="102743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ounded Rectangle 22"/>
          <p:cNvSpPr/>
          <p:nvPr/>
        </p:nvSpPr>
        <p:spPr>
          <a:xfrm>
            <a:off x="105664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ounded Rectangle 24"/>
          <p:cNvSpPr/>
          <p:nvPr/>
        </p:nvSpPr>
        <p:spPr>
          <a:xfrm>
            <a:off x="9702800" y="1397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ounded Rectangle 25"/>
          <p:cNvSpPr/>
          <p:nvPr/>
        </p:nvSpPr>
        <p:spPr>
          <a:xfrm>
            <a:off x="9994900" y="1104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ounded Rectangle 26"/>
          <p:cNvSpPr/>
          <p:nvPr/>
        </p:nvSpPr>
        <p:spPr>
          <a:xfrm>
            <a:off x="9702800" y="1104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9423400" y="1104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ounded Rectangle 28"/>
          <p:cNvSpPr/>
          <p:nvPr/>
        </p:nvSpPr>
        <p:spPr>
          <a:xfrm>
            <a:off x="102743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99949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97028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94234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ounded Rectangle 32"/>
          <p:cNvSpPr/>
          <p:nvPr/>
        </p:nvSpPr>
        <p:spPr>
          <a:xfrm>
            <a:off x="91313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105664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ounded Rectangle 34"/>
          <p:cNvSpPr/>
          <p:nvPr/>
        </p:nvSpPr>
        <p:spPr>
          <a:xfrm>
            <a:off x="102743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ounded Rectangle 35"/>
          <p:cNvSpPr/>
          <p:nvPr/>
        </p:nvSpPr>
        <p:spPr>
          <a:xfrm>
            <a:off x="99949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ounded Rectangle 36"/>
          <p:cNvSpPr/>
          <p:nvPr/>
        </p:nvSpPr>
        <p:spPr>
          <a:xfrm>
            <a:off x="97028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ounded Rectangle 37"/>
          <p:cNvSpPr/>
          <p:nvPr/>
        </p:nvSpPr>
        <p:spPr>
          <a:xfrm>
            <a:off x="94234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91313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88519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0" y="1143000"/>
            <a:ext cx="6692900" cy="825500"/>
          </a:xfrm>
          <a:prstGeom prst="rect">
            <a:avLst/>
          </a:prstGeom>
          <a:noFill/>
        </p:spPr>
        <p:txBody>
          <a:bodyPr wrap="square" lIns="0" tIns="0" rIns="0" bIns="0">
            <a:spAutoFit/>
          </a:bodyPr>
          <a:lstStyle/>
          <a:p>
            <a:pPr algn="l">
              <a:defRPr sz="4400" b="1" i="0">
                <a:solidFill>
                  <a:srgbClr val="101214"/>
                </a:solidFill>
                <a:latin typeface="__Nunito_Sans_dc5584"/>
              </a:defRPr>
            </a:pPr>
            <a:r>
              <a:rPr sz="4400" b="1" i="0">
                <a:solidFill>
                  <a:srgbClr val="101214"/>
                </a:solidFill>
                <a:latin typeface="__Nunito_Sans_dc5584"/>
              </a:rPr>
              <a:t>Inspiration &amp; Problem</a:t>
            </a:r>
          </a:p>
        </p:txBody>
      </p:sp>
      <p:sp>
        <p:nvSpPr>
          <p:cNvPr id="3" name="TextBox 2"/>
          <p:cNvSpPr txBox="1"/>
          <p:nvPr/>
        </p:nvSpPr>
        <p:spPr>
          <a:xfrm>
            <a:off x="7772400" y="2387600"/>
            <a:ext cx="2006600" cy="444500"/>
          </a:xfrm>
          <a:prstGeom prst="rect">
            <a:avLst/>
          </a:prstGeom>
          <a:noFill/>
        </p:spPr>
        <p:txBody>
          <a:bodyPr wrap="square" lIns="0" tIns="0" rIns="0" bIns="0">
            <a:spAutoFit/>
          </a:bodyPr>
          <a:lstStyle/>
          <a:p>
            <a:pPr algn="l">
              <a:defRPr sz="2600" b="1" i="0">
                <a:solidFill>
                  <a:srgbClr val="454A80"/>
                </a:solidFill>
                <a:latin typeface="__Nunito_Sans_dc5584"/>
              </a:defRPr>
            </a:pPr>
            <a:r>
              <a:rPr sz="2600" b="1" i="0">
                <a:solidFill>
                  <a:srgbClr val="454A80"/>
                </a:solidFill>
                <a:latin typeface="__Nunito_Sans_dc5584"/>
              </a:rPr>
              <a:t>The Problem</a:t>
            </a:r>
          </a:p>
        </p:txBody>
      </p:sp>
      <p:sp>
        <p:nvSpPr>
          <p:cNvPr id="4" name="TextBox 3"/>
          <p:cNvSpPr txBox="1"/>
          <p:nvPr/>
        </p:nvSpPr>
        <p:spPr>
          <a:xfrm>
            <a:off x="7772400" y="2895600"/>
            <a:ext cx="6692900" cy="25146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AI tools in their current state are </a:t>
            </a:r>
            <a:r>
              <a:rPr sz="2200" b="1" i="0">
                <a:solidFill>
                  <a:srgbClr val="101214"/>
                </a:solidFill>
                <a:latin typeface="__Nunito_Sans_dc5584"/>
              </a:rPr>
              <a:t>passive</a:t>
            </a:r>
            <a:r>
              <a:rPr sz="2200" b="0" i="0">
                <a:solidFill>
                  <a:srgbClr val="101214"/>
                </a:solidFill>
                <a:latin typeface="__Nunito_Sans_dc5584"/>
              </a:rPr>
              <a:t> and </a:t>
            </a:r>
            <a:r>
              <a:rPr sz="2200" b="1" i="0">
                <a:solidFill>
                  <a:srgbClr val="101214"/>
                </a:solidFill>
                <a:latin typeface="__Nunito_Sans_dc5584"/>
              </a:rPr>
              <a:t>reactive</a:t>
            </a:r>
            <a:r>
              <a:rPr sz="2200" b="0" i="0">
                <a:solidFill>
                  <a:srgbClr val="101214"/>
                </a:solidFill>
                <a:latin typeface="__Nunito_Sans_dc5584"/>
              </a:rPr>
              <a:t>. They can explain existing scenarios but lack the capability to </a:t>
            </a:r>
            <a:r>
              <a:rPr sz="2200" b="1" i="0">
                <a:solidFill>
                  <a:srgbClr val="101214"/>
                </a:solidFill>
                <a:latin typeface="__Nunito_Sans_dc5584"/>
              </a:rPr>
              <a:t>participate actively</a:t>
            </a:r>
            <a:r>
              <a:rPr sz="2200" b="0" i="0">
                <a:solidFill>
                  <a:srgbClr val="101214"/>
                </a:solidFill>
                <a:latin typeface="__Nunito_Sans_dc5584"/>
              </a:rPr>
              <a:t>. Existing systems are characterized by being single-purpose, having high latency, and being blind to physical context.</a:t>
            </a:r>
          </a:p>
        </p:txBody>
      </p:sp>
      <p:sp>
        <p:nvSpPr>
          <p:cNvPr id="5" name="TextBox 4"/>
          <p:cNvSpPr txBox="1"/>
          <p:nvPr/>
        </p:nvSpPr>
        <p:spPr>
          <a:xfrm>
            <a:off x="7772400" y="5816600"/>
            <a:ext cx="1308100" cy="444500"/>
          </a:xfrm>
          <a:prstGeom prst="rect">
            <a:avLst/>
          </a:prstGeom>
          <a:noFill/>
        </p:spPr>
        <p:txBody>
          <a:bodyPr wrap="square" lIns="0" tIns="0" rIns="0" bIns="0">
            <a:spAutoFit/>
          </a:bodyPr>
          <a:lstStyle/>
          <a:p>
            <a:pPr algn="l">
              <a:defRPr sz="2600" b="1" i="0">
                <a:solidFill>
                  <a:srgbClr val="454A80"/>
                </a:solidFill>
                <a:latin typeface="__Nunito_Sans_dc5584"/>
              </a:defRPr>
            </a:pPr>
            <a:r>
              <a:rPr sz="2600" b="1" i="0">
                <a:solidFill>
                  <a:srgbClr val="454A80"/>
                </a:solidFill>
                <a:latin typeface="__Nunito_Sans_dc5584"/>
              </a:rPr>
              <a:t>The Gap</a:t>
            </a:r>
          </a:p>
        </p:txBody>
      </p:sp>
      <p:sp>
        <p:nvSpPr>
          <p:cNvPr id="6" name="TextBox 5"/>
          <p:cNvSpPr txBox="1"/>
          <p:nvPr/>
        </p:nvSpPr>
        <p:spPr>
          <a:xfrm>
            <a:off x="7772400" y="6324600"/>
            <a:ext cx="6692900" cy="16764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There is a notable absence of unified intelligence capable of observing the real world, reasoning in real-time, guiding human actions, and simulating alternate realities.</a:t>
            </a:r>
          </a:p>
        </p:txBody>
      </p:sp>
      <p:sp>
        <p:nvSpPr>
          <p:cNvPr id="7" name="Rounded Rectangle 6"/>
          <p:cNvSpPr/>
          <p:nvPr/>
        </p:nvSpPr>
        <p:spPr>
          <a:xfrm>
            <a:off x="5080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8" name="Picture 7" descr="bc16f072-5a66-4f4b-bc6c-824fac362843.png"/>
          <p:cNvPicPr>
            <a:picLocks noChangeAspect="1"/>
          </p:cNvPicPr>
          <p:nvPr/>
        </p:nvPicPr>
        <p:blipFill>
          <a:blip r:embed="rId3"/>
          <a:stretch>
            <a:fillRect/>
          </a:stretch>
        </p:blipFill>
        <p:spPr>
          <a:xfrm>
            <a:off x="508000" y="1447800"/>
            <a:ext cx="6248400" cy="6248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0" y="1562100"/>
            <a:ext cx="6692900" cy="825500"/>
          </a:xfrm>
          <a:prstGeom prst="rect">
            <a:avLst/>
          </a:prstGeom>
          <a:noFill/>
        </p:spPr>
        <p:txBody>
          <a:bodyPr wrap="square" lIns="0" tIns="0" rIns="0" bIns="0">
            <a:spAutoFit/>
          </a:bodyPr>
          <a:lstStyle/>
          <a:p>
            <a:pPr algn="l">
              <a:defRPr sz="4400" b="1" i="0">
                <a:solidFill>
                  <a:srgbClr val="101214"/>
                </a:solidFill>
                <a:latin typeface="__Nunito_Sans_dc5584"/>
              </a:defRPr>
            </a:pPr>
            <a:r>
              <a:rPr sz="4400" b="1" i="0">
                <a:solidFill>
                  <a:srgbClr val="101214"/>
                </a:solidFill>
                <a:latin typeface="__Nunito_Sans_dc5584"/>
              </a:rPr>
              <a:t>What sets MUSES apart?</a:t>
            </a:r>
          </a:p>
        </p:txBody>
      </p:sp>
      <p:sp>
        <p:nvSpPr>
          <p:cNvPr id="3" name="TextBox 2"/>
          <p:cNvSpPr txBox="1"/>
          <p:nvPr/>
        </p:nvSpPr>
        <p:spPr>
          <a:xfrm>
            <a:off x="7772400" y="28829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Unique Features</a:t>
            </a:r>
          </a:p>
        </p:txBody>
      </p:sp>
      <p:sp>
        <p:nvSpPr>
          <p:cNvPr id="4" name="TextBox 3"/>
          <p:cNvSpPr txBox="1"/>
          <p:nvPr/>
        </p:nvSpPr>
        <p:spPr>
          <a:xfrm>
            <a:off x="7772400" y="3314700"/>
            <a:ext cx="6692900" cy="16764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MUSES distinguishes itself by consolidating all functionalities within a single AI brain, rather than utilizing disparate tools for different tasks. This integration allows for a seamless user experience.</a:t>
            </a:r>
          </a:p>
        </p:txBody>
      </p:sp>
      <p:sp>
        <p:nvSpPr>
          <p:cNvPr id="5" name="TextBox 4"/>
          <p:cNvSpPr txBox="1"/>
          <p:nvPr/>
        </p:nvSpPr>
        <p:spPr>
          <a:xfrm>
            <a:off x="7772400" y="54737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Comprehensive Capabilities</a:t>
            </a:r>
          </a:p>
        </p:txBody>
      </p:sp>
      <p:sp>
        <p:nvSpPr>
          <p:cNvPr id="6" name="TextBox 5"/>
          <p:cNvSpPr txBox="1"/>
          <p:nvPr/>
        </p:nvSpPr>
        <p:spPr>
          <a:xfrm>
            <a:off x="7772400" y="5905500"/>
            <a:ext cx="6692900" cy="16764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Its capabilities span across observing, understanding, simulating, and guiding in real-time, thus catering to a wide range of applications effectively.</a:t>
            </a:r>
          </a:p>
        </p:txBody>
      </p:sp>
      <p:sp>
        <p:nvSpPr>
          <p:cNvPr id="7" name="Rounded Rectangle 6"/>
          <p:cNvSpPr/>
          <p:nvPr/>
        </p:nvSpPr>
        <p:spPr>
          <a:xfrm>
            <a:off x="5080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8" name="Picture 7" descr="6ed8f175-565d-4eb7-b473-40706e32c0f4.png"/>
          <p:cNvPicPr>
            <a:picLocks noChangeAspect="1"/>
          </p:cNvPicPr>
          <p:nvPr/>
        </p:nvPicPr>
        <p:blipFill>
          <a:blip r:embed="rId3"/>
          <a:stretch>
            <a:fillRect/>
          </a:stretch>
        </p:blipFill>
        <p:spPr>
          <a:xfrm>
            <a:off x="508000" y="1447800"/>
            <a:ext cx="6248400" cy="6248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0" y="520700"/>
            <a:ext cx="6692900" cy="1663700"/>
          </a:xfrm>
          <a:prstGeom prst="rect">
            <a:avLst/>
          </a:prstGeom>
          <a:noFill/>
        </p:spPr>
        <p:txBody>
          <a:bodyPr wrap="square" lIns="0" tIns="0" rIns="0" bIns="0">
            <a:spAutoFit/>
          </a:bodyPr>
          <a:lstStyle/>
          <a:p>
            <a:pPr algn="l">
              <a:lnSpc>
                <a:spcPct val="120000"/>
              </a:lnSpc>
              <a:defRPr sz="4400" b="1" i="0">
                <a:solidFill>
                  <a:srgbClr val="101214"/>
                </a:solidFill>
                <a:latin typeface="__Nunito_Sans_dc5584"/>
              </a:defRPr>
            </a:pPr>
            <a:r>
              <a:rPr sz="4400" b="1" i="0">
                <a:solidFill>
                  <a:srgbClr val="101214"/>
                </a:solidFill>
                <a:latin typeface="__Nunito_Sans_dc5584"/>
              </a:rPr>
              <a:t>Understanding the Workflow of MUSES</a:t>
            </a:r>
          </a:p>
        </p:txBody>
      </p:sp>
      <p:sp>
        <p:nvSpPr>
          <p:cNvPr id="3" name="TextBox 2"/>
          <p:cNvSpPr txBox="1"/>
          <p:nvPr/>
        </p:nvSpPr>
        <p:spPr>
          <a:xfrm>
            <a:off x="7772400" y="26670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User Flow</a:t>
            </a:r>
          </a:p>
        </p:txBody>
      </p:sp>
      <p:sp>
        <p:nvSpPr>
          <p:cNvPr id="4" name="TextBox 3"/>
          <p:cNvSpPr txBox="1"/>
          <p:nvPr/>
        </p:nvSpPr>
        <p:spPr>
          <a:xfrm>
            <a:off x="7772400" y="3098800"/>
            <a:ext cx="6692900" cy="20955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Users can either access MUSES as guests or log in. They then select a desired mode such as Sports, Safety, Create, or Coach and proceed to upload or stream their content, including videos, images, or voice inputs.</a:t>
            </a:r>
          </a:p>
        </p:txBody>
      </p:sp>
      <p:sp>
        <p:nvSpPr>
          <p:cNvPr id="5" name="TextBox 4"/>
          <p:cNvSpPr txBox="1"/>
          <p:nvPr/>
        </p:nvSpPr>
        <p:spPr>
          <a:xfrm>
            <a:off x="7772400" y="56769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Processing and Output</a:t>
            </a:r>
          </a:p>
        </p:txBody>
      </p:sp>
      <p:sp>
        <p:nvSpPr>
          <p:cNvPr id="6" name="TextBox 5"/>
          <p:cNvSpPr txBox="1"/>
          <p:nvPr/>
        </p:nvSpPr>
        <p:spPr>
          <a:xfrm>
            <a:off x="7772400" y="6108700"/>
            <a:ext cx="6692900" cy="25146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Gemini 3 processes these inputs in real-time to detect objects and motion, reason about actions, and simulate alternatives. The resulting feedback is provided with visual overlays, voice responses, and immersive interactive scenarios, creating a truly context-aware experience.</a:t>
            </a:r>
          </a:p>
        </p:txBody>
      </p:sp>
      <p:sp>
        <p:nvSpPr>
          <p:cNvPr id="7" name="Rounded Rectangle 6"/>
          <p:cNvSpPr/>
          <p:nvPr/>
        </p:nvSpPr>
        <p:spPr>
          <a:xfrm>
            <a:off x="5080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8" name="Picture 7" descr="a28221f4-0516-4bbe-baff-551f9c305221.png"/>
          <p:cNvPicPr>
            <a:picLocks noChangeAspect="1"/>
          </p:cNvPicPr>
          <p:nvPr/>
        </p:nvPicPr>
        <p:blipFill>
          <a:blip r:embed="rId3"/>
          <a:stretch>
            <a:fillRect/>
          </a:stretch>
        </p:blipFill>
        <p:spPr>
          <a:xfrm>
            <a:off x="508000" y="1447800"/>
            <a:ext cx="6248400" cy="6248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90600" y="596900"/>
            <a:ext cx="6946900" cy="939800"/>
          </a:xfrm>
          <a:prstGeom prst="rect">
            <a:avLst/>
          </a:prstGeom>
          <a:noFill/>
        </p:spPr>
        <p:txBody>
          <a:bodyPr wrap="square" lIns="0" tIns="0" rIns="0" bIns="0">
            <a:spAutoFit/>
          </a:bodyPr>
          <a:lstStyle/>
          <a:p>
            <a:pPr algn="l">
              <a:defRPr sz="4900" b="1" i="0">
                <a:solidFill>
                  <a:srgbClr val="101214"/>
                </a:solidFill>
                <a:latin typeface="__Nunito_Sans_dc5584"/>
              </a:defRPr>
            </a:pPr>
            <a:r>
              <a:rPr sz="4900" b="1" i="0">
                <a:solidFill>
                  <a:srgbClr val="101214"/>
                </a:solidFill>
                <a:latin typeface="__Nunito_Sans_dc5584"/>
              </a:rPr>
              <a:t>Gemini 3 Integration</a:t>
            </a:r>
          </a:p>
        </p:txBody>
      </p:sp>
      <p:sp>
        <p:nvSpPr>
          <p:cNvPr id="3" name="TextBox 2"/>
          <p:cNvSpPr txBox="1"/>
          <p:nvPr/>
        </p:nvSpPr>
        <p:spPr>
          <a:xfrm>
            <a:off x="990600" y="2501900"/>
            <a:ext cx="6946900" cy="304800"/>
          </a:xfrm>
          <a:prstGeom prst="rect">
            <a:avLst/>
          </a:prstGeom>
          <a:noFill/>
        </p:spPr>
        <p:txBody>
          <a:bodyPr wrap="square" lIns="0" tIns="0" rIns="0" bIns="0">
            <a:spAutoFit/>
          </a:bodyPr>
          <a:lstStyle/>
          <a:p>
            <a:pPr algn="l">
              <a:lnSpc>
                <a:spcPct val="52000"/>
              </a:lnSpc>
              <a:defRPr sz="2900" b="1" i="0">
                <a:solidFill>
                  <a:srgbClr val="454A80"/>
                </a:solidFill>
                <a:latin typeface="__Nunito_Sans_dc5584"/>
              </a:defRPr>
            </a:pPr>
            <a:r>
              <a:rPr sz="2900" b="1" i="0">
                <a:solidFill>
                  <a:srgbClr val="454A80"/>
                </a:solidFill>
                <a:latin typeface="__Nunito_Sans_dc5584"/>
              </a:rPr>
              <a:t>Revolutionizing Interaction</a:t>
            </a:r>
          </a:p>
        </p:txBody>
      </p:sp>
      <p:sp>
        <p:nvSpPr>
          <p:cNvPr id="4" name="TextBox 3"/>
          <p:cNvSpPr txBox="1"/>
          <p:nvPr/>
        </p:nvSpPr>
        <p:spPr>
          <a:xfrm>
            <a:off x="990600" y="2933700"/>
            <a:ext cx="6946900" cy="5613400"/>
          </a:xfrm>
          <a:prstGeom prst="rect">
            <a:avLst/>
          </a:prstGeom>
          <a:noFill/>
        </p:spPr>
        <p:txBody>
          <a:bodyPr wrap="square" lIns="0" tIns="0" rIns="0" bIns="0">
            <a:spAutoFit/>
          </a:bodyPr>
          <a:lstStyle/>
          <a:p>
            <a:pPr algn="l">
              <a:lnSpc>
                <a:spcPct val="120000"/>
              </a:lnSpc>
              <a:defRPr sz="2500" b="0" i="0">
                <a:solidFill>
                  <a:srgbClr val="101214"/>
                </a:solidFill>
                <a:latin typeface="__Nunito_Sans_dc5584"/>
              </a:defRPr>
            </a:pPr>
            <a:r>
              <a:rPr sz="2500" b="0" i="0">
                <a:solidFill>
                  <a:srgbClr val="101214"/>
                </a:solidFill>
                <a:latin typeface="__Nunito_Sans_dc5584"/>
              </a:rPr>
              <a:t>Gemini 3 incorporates </a:t>
            </a:r>
            <a:r>
              <a:rPr sz="2500" b="1" i="0">
                <a:solidFill>
                  <a:srgbClr val="101214"/>
                </a:solidFill>
                <a:latin typeface="__Nunito_Sans_dc5584"/>
              </a:rPr>
              <a:t>multimodal reasoning</a:t>
            </a:r>
            <a:r>
              <a:rPr sz="2500" b="0" i="0">
                <a:solidFill>
                  <a:srgbClr val="101214"/>
                </a:solidFill>
                <a:latin typeface="__Nunito_Sans_dc5584"/>
              </a:rPr>
              <a:t>, blending video, images, audio, and text seamlessly. It excels in </a:t>
            </a:r>
            <a:r>
              <a:rPr sz="2500" b="1" i="0">
                <a:solidFill>
                  <a:srgbClr val="101214"/>
                </a:solidFill>
                <a:latin typeface="__Nunito_Sans_dc5584"/>
              </a:rPr>
              <a:t>long context understanding</a:t>
            </a:r>
            <a:r>
              <a:rPr sz="2500" b="0" i="0">
                <a:solidFill>
                  <a:srgbClr val="101214"/>
                </a:solidFill>
                <a:latin typeface="__Nunito_Sans_dc5584"/>
              </a:rPr>
              <a:t>, effectively tracking actions over time. Featuring </a:t>
            </a:r>
            <a:r>
              <a:rPr sz="2500" b="1" i="0">
                <a:solidFill>
                  <a:srgbClr val="101214"/>
                </a:solidFill>
                <a:latin typeface="__Nunito_Sans_dc5584"/>
              </a:rPr>
              <a:t>low-latency inference</a:t>
            </a:r>
            <a:r>
              <a:rPr sz="2500" b="0" i="0">
                <a:solidFill>
                  <a:srgbClr val="101214"/>
                </a:solidFill>
                <a:latin typeface="__Nunito_Sans_dc5584"/>
              </a:rPr>
              <a:t>, it provides real-time feedback, making processes smoother. Its </a:t>
            </a:r>
            <a:r>
              <a:rPr sz="2500" b="1" i="0">
                <a:solidFill>
                  <a:srgbClr val="101214"/>
                </a:solidFill>
                <a:latin typeface="__Nunito_Sans_dc5584"/>
              </a:rPr>
              <a:t>advanced planning and simulation</a:t>
            </a:r>
            <a:r>
              <a:rPr sz="2500" b="0" i="0">
                <a:solidFill>
                  <a:srgbClr val="101214"/>
                </a:solidFill>
                <a:latin typeface="__Nunito_Sans_dc5584"/>
              </a:rPr>
              <a:t> capabilities allow prediction of outcomes before execution. This unique blend of features enables it to not only describe but also understand and guide interactions, paving the way for MUSES to become a reality.</a:t>
            </a:r>
          </a:p>
        </p:txBody>
      </p:sp>
      <p:sp>
        <p:nvSpPr>
          <p:cNvPr id="5" name="Rounded Rectangle 4"/>
          <p:cNvSpPr/>
          <p:nvPr/>
        </p:nvSpPr>
        <p:spPr>
          <a:xfrm>
            <a:off x="15481300" y="31369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15481300" y="35941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Rounded Rectangle 6"/>
          <p:cNvSpPr/>
          <p:nvPr/>
        </p:nvSpPr>
        <p:spPr>
          <a:xfrm>
            <a:off x="15481300" y="40513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Rounded Rectangle 7"/>
          <p:cNvSpPr/>
          <p:nvPr/>
        </p:nvSpPr>
        <p:spPr>
          <a:xfrm>
            <a:off x="15481300" y="45085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Rounded Rectangle 8"/>
          <p:cNvSpPr/>
          <p:nvPr/>
        </p:nvSpPr>
        <p:spPr>
          <a:xfrm>
            <a:off x="15481300" y="49657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ounded Rectangle 9"/>
          <p:cNvSpPr/>
          <p:nvPr/>
        </p:nvSpPr>
        <p:spPr>
          <a:xfrm>
            <a:off x="15481300" y="54229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ounded Rectangle 10"/>
          <p:cNvSpPr/>
          <p:nvPr/>
        </p:nvSpPr>
        <p:spPr>
          <a:xfrm>
            <a:off x="15481300" y="58674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ounded Rectangle 11"/>
          <p:cNvSpPr/>
          <p:nvPr/>
        </p:nvSpPr>
        <p:spPr>
          <a:xfrm>
            <a:off x="86995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3" name="Picture 12" descr="94984727-aaff-47c3-a99b-4049894ea681.png"/>
          <p:cNvPicPr>
            <a:picLocks noChangeAspect="1"/>
          </p:cNvPicPr>
          <p:nvPr/>
        </p:nvPicPr>
        <p:blipFill>
          <a:blip r:embed="rId3"/>
          <a:stretch>
            <a:fillRect/>
          </a:stretch>
        </p:blipFill>
        <p:spPr>
          <a:xfrm>
            <a:off x="8699500" y="1447800"/>
            <a:ext cx="6248400" cy="6248400"/>
          </a:xfrm>
          <a:prstGeom prst="rect">
            <a:avLst/>
          </a:prstGeom>
        </p:spPr>
      </p:pic>
      <p:sp>
        <p:nvSpPr>
          <p:cNvPr id="14" name="Rounded Rectangle 13"/>
          <p:cNvSpPr/>
          <p:nvPr/>
        </p:nvSpPr>
        <p:spPr>
          <a:xfrm>
            <a:off x="76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ounded Rectangle 14"/>
          <p:cNvSpPr/>
          <p:nvPr/>
        </p:nvSpPr>
        <p:spPr>
          <a:xfrm>
            <a:off x="457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ounded Rectangle 15"/>
          <p:cNvSpPr/>
          <p:nvPr/>
        </p:nvSpPr>
        <p:spPr>
          <a:xfrm>
            <a:off x="838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1219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ounded Rectangle 17"/>
          <p:cNvSpPr/>
          <p:nvPr/>
        </p:nvSpPr>
        <p:spPr>
          <a:xfrm>
            <a:off x="76200" y="457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ounded Rectangle 18"/>
          <p:cNvSpPr/>
          <p:nvPr/>
        </p:nvSpPr>
        <p:spPr>
          <a:xfrm>
            <a:off x="457200" y="457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ounded Rectangle 19"/>
          <p:cNvSpPr/>
          <p:nvPr/>
        </p:nvSpPr>
        <p:spPr>
          <a:xfrm>
            <a:off x="838200" y="457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ounded Rectangle 20"/>
          <p:cNvSpPr/>
          <p:nvPr/>
        </p:nvSpPr>
        <p:spPr>
          <a:xfrm>
            <a:off x="76200" y="838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ounded Rectangle 21"/>
          <p:cNvSpPr/>
          <p:nvPr/>
        </p:nvSpPr>
        <p:spPr>
          <a:xfrm>
            <a:off x="457200" y="838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ounded Rectangle 22"/>
          <p:cNvSpPr/>
          <p:nvPr/>
        </p:nvSpPr>
        <p:spPr>
          <a:xfrm>
            <a:off x="76200" y="1219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90600" y="355600"/>
            <a:ext cx="6946900" cy="939800"/>
          </a:xfrm>
          <a:prstGeom prst="rect">
            <a:avLst/>
          </a:prstGeom>
          <a:noFill/>
        </p:spPr>
        <p:txBody>
          <a:bodyPr wrap="square" lIns="0" tIns="0" rIns="0" bIns="0">
            <a:spAutoFit/>
          </a:bodyPr>
          <a:lstStyle/>
          <a:p>
            <a:pPr algn="l">
              <a:defRPr sz="4900" b="1" i="0">
                <a:solidFill>
                  <a:srgbClr val="101214"/>
                </a:solidFill>
                <a:latin typeface="__Nunito_Sans_dc5584"/>
              </a:defRPr>
            </a:pPr>
            <a:r>
              <a:rPr sz="4900" b="1" i="0">
                <a:solidFill>
                  <a:srgbClr val="101214"/>
                </a:solidFill>
                <a:latin typeface="__Nunito_Sans_dc5584"/>
              </a:rPr>
              <a:t>Impact &amp; Market Value</a:t>
            </a:r>
          </a:p>
        </p:txBody>
      </p:sp>
      <p:sp>
        <p:nvSpPr>
          <p:cNvPr id="3" name="TextBox 2"/>
          <p:cNvSpPr txBox="1"/>
          <p:nvPr/>
        </p:nvSpPr>
        <p:spPr>
          <a:xfrm>
            <a:off x="990600" y="2273300"/>
            <a:ext cx="6946900" cy="304800"/>
          </a:xfrm>
          <a:prstGeom prst="rect">
            <a:avLst/>
          </a:prstGeom>
          <a:noFill/>
        </p:spPr>
        <p:txBody>
          <a:bodyPr wrap="square" lIns="0" tIns="0" rIns="0" bIns="0">
            <a:spAutoFit/>
          </a:bodyPr>
          <a:lstStyle/>
          <a:p>
            <a:pPr algn="l">
              <a:lnSpc>
                <a:spcPct val="52000"/>
              </a:lnSpc>
              <a:defRPr sz="2900" b="1" i="0">
                <a:solidFill>
                  <a:srgbClr val="454A80"/>
                </a:solidFill>
                <a:latin typeface="__Nunito_Sans_dc5584"/>
              </a:defRPr>
            </a:pPr>
            <a:r>
              <a:rPr sz="2900" b="1" i="0">
                <a:solidFill>
                  <a:srgbClr val="454A80"/>
                </a:solidFill>
                <a:latin typeface="__Nunito_Sans_dc5584"/>
              </a:rPr>
              <a:t>Insights and Opportunities</a:t>
            </a:r>
          </a:p>
        </p:txBody>
      </p:sp>
      <p:sp>
        <p:nvSpPr>
          <p:cNvPr id="4" name="TextBox 3"/>
          <p:cNvSpPr txBox="1"/>
          <p:nvPr/>
        </p:nvSpPr>
        <p:spPr>
          <a:xfrm>
            <a:off x="990600" y="2705100"/>
            <a:ext cx="5549900" cy="431800"/>
          </a:xfrm>
          <a:prstGeom prst="rect">
            <a:avLst/>
          </a:prstGeom>
          <a:noFill/>
        </p:spPr>
        <p:txBody>
          <a:bodyPr wrap="square" lIns="0" tIns="0" rIns="0" bIns="0">
            <a:spAutoFit/>
          </a:bodyPr>
          <a:lstStyle/>
          <a:p>
            <a:pPr algn="l">
              <a:defRPr sz="2500" b="1" i="0">
                <a:solidFill>
                  <a:srgbClr val="101214"/>
                </a:solidFill>
                <a:latin typeface="__Nunito_Sans_dc5584"/>
              </a:defRPr>
            </a:pPr>
            <a:r>
              <a:rPr sz="2500" b="1" i="0">
                <a:solidFill>
                  <a:srgbClr val="101214"/>
                </a:solidFill>
                <a:latin typeface="__Nunito_Sans_dc5584"/>
              </a:rPr>
              <a:t>Measured Impact (Early Benchmarks)</a:t>
            </a:r>
          </a:p>
        </p:txBody>
      </p:sp>
      <p:sp>
        <p:nvSpPr>
          <p:cNvPr id="5" name="TextBox 4"/>
          <p:cNvSpPr txBox="1"/>
          <p:nvPr/>
        </p:nvSpPr>
        <p:spPr>
          <a:xfrm>
            <a:off x="990600" y="3162300"/>
            <a:ext cx="6946900" cy="939800"/>
          </a:xfrm>
          <a:prstGeom prst="rect">
            <a:avLst/>
          </a:prstGeom>
          <a:noFill/>
        </p:spPr>
        <p:txBody>
          <a:bodyPr wrap="square" lIns="0" tIns="0" rIns="0" bIns="0">
            <a:spAutoFit/>
          </a:bodyPr>
          <a:lstStyle/>
          <a:p>
            <a:pPr>
              <a:lnSpc>
                <a:spcPct val="120000"/>
              </a:lnSpc>
              <a:defRPr sz="2500" b="0" i="0">
                <a:solidFill>
                  <a:srgbClr val="101214"/>
                </a:solidFill>
                <a:latin typeface="__Nunito_Sans_dc5584"/>
              </a:defRPr>
            </a:pPr>
            <a:r>
              <a:rPr sz="2500" b="0" i="0">
                <a:solidFill>
                  <a:srgbClr val="101214"/>
                </a:solidFill>
                <a:latin typeface="__Nunito_Sans_dc5584"/>
              </a:rPr>
              <a:t>🚦 15–30% reduction in risky driving behavior (training scenarios)</a:t>
            </a:r>
          </a:p>
        </p:txBody>
      </p:sp>
      <p:sp>
        <p:nvSpPr>
          <p:cNvPr id="6" name="TextBox 5"/>
          <p:cNvSpPr txBox="1"/>
          <p:nvPr/>
        </p:nvSpPr>
        <p:spPr>
          <a:xfrm>
            <a:off x="990600" y="4102100"/>
            <a:ext cx="6946900" cy="469900"/>
          </a:xfrm>
          <a:prstGeom prst="rect">
            <a:avLst/>
          </a:prstGeom>
          <a:noFill/>
        </p:spPr>
        <p:txBody>
          <a:bodyPr wrap="square" lIns="0" tIns="0" rIns="0" bIns="0">
            <a:spAutoFit/>
          </a:bodyPr>
          <a:lstStyle/>
          <a:p>
            <a:pPr>
              <a:defRPr sz="2500" b="0" i="0">
                <a:solidFill>
                  <a:srgbClr val="101214"/>
                </a:solidFill>
                <a:latin typeface="__Nunito_Sans_dc5584"/>
              </a:defRPr>
            </a:pPr>
            <a:r>
              <a:rPr sz="2500" b="0" i="0">
                <a:solidFill>
                  <a:srgbClr val="101214"/>
                </a:solidFill>
                <a:latin typeface="__Nunito_Sans_dc5584"/>
              </a:rPr>
              <a:t>🏏 10–20% sports technique improvement</a:t>
            </a:r>
          </a:p>
        </p:txBody>
      </p:sp>
      <p:sp>
        <p:nvSpPr>
          <p:cNvPr id="7" name="TextBox 6"/>
          <p:cNvSpPr txBox="1"/>
          <p:nvPr/>
        </p:nvSpPr>
        <p:spPr>
          <a:xfrm>
            <a:off x="990600" y="4572000"/>
            <a:ext cx="6946900" cy="469900"/>
          </a:xfrm>
          <a:prstGeom prst="rect">
            <a:avLst/>
          </a:prstGeom>
          <a:noFill/>
        </p:spPr>
        <p:txBody>
          <a:bodyPr wrap="square" lIns="0" tIns="0" rIns="0" bIns="0">
            <a:spAutoFit/>
          </a:bodyPr>
          <a:lstStyle/>
          <a:p>
            <a:pPr>
              <a:defRPr sz="2500" b="0" i="0">
                <a:solidFill>
                  <a:srgbClr val="101214"/>
                </a:solidFill>
                <a:latin typeface="__Nunito_Sans_dc5584"/>
              </a:defRPr>
            </a:pPr>
            <a:r>
              <a:rPr sz="2500" b="0" i="0">
                <a:solidFill>
                  <a:srgbClr val="101214"/>
                </a:solidFill>
                <a:latin typeface="__Nunito_Sans_dc5584"/>
              </a:rPr>
              <a:t>🗣 25–40% interview confidence increase</a:t>
            </a:r>
          </a:p>
        </p:txBody>
      </p:sp>
      <p:sp>
        <p:nvSpPr>
          <p:cNvPr id="8" name="TextBox 7"/>
          <p:cNvSpPr txBox="1"/>
          <p:nvPr/>
        </p:nvSpPr>
        <p:spPr>
          <a:xfrm>
            <a:off x="990600" y="5041900"/>
            <a:ext cx="6946900" cy="469900"/>
          </a:xfrm>
          <a:prstGeom prst="rect">
            <a:avLst/>
          </a:prstGeom>
          <a:noFill/>
        </p:spPr>
        <p:txBody>
          <a:bodyPr wrap="square" lIns="0" tIns="0" rIns="0" bIns="0">
            <a:spAutoFit/>
          </a:bodyPr>
          <a:lstStyle/>
          <a:p>
            <a:pPr>
              <a:defRPr sz="2500" b="0" i="0">
                <a:solidFill>
                  <a:srgbClr val="101214"/>
                </a:solidFill>
                <a:latin typeface="__Nunito_Sans_dc5584"/>
              </a:defRPr>
            </a:pPr>
            <a:r>
              <a:rPr sz="2500" b="0" i="0">
                <a:solidFill>
                  <a:srgbClr val="101214"/>
                </a:solidFill>
                <a:latin typeface="__Nunito_Sans_dc5584"/>
              </a:rPr>
              <a:t>🥗 18–25% food waste reduction</a:t>
            </a:r>
          </a:p>
        </p:txBody>
      </p:sp>
      <p:sp>
        <p:nvSpPr>
          <p:cNvPr id="9" name="TextBox 8"/>
          <p:cNvSpPr txBox="1"/>
          <p:nvPr/>
        </p:nvSpPr>
        <p:spPr>
          <a:xfrm>
            <a:off x="990600" y="5511800"/>
            <a:ext cx="6946900" cy="469900"/>
          </a:xfrm>
          <a:prstGeom prst="rect">
            <a:avLst/>
          </a:prstGeom>
          <a:noFill/>
        </p:spPr>
        <p:txBody>
          <a:bodyPr wrap="square" lIns="0" tIns="0" rIns="0" bIns="0">
            <a:spAutoFit/>
          </a:bodyPr>
          <a:lstStyle/>
          <a:p>
            <a:pPr>
              <a:defRPr sz="2500" b="0" i="0">
                <a:solidFill>
                  <a:srgbClr val="101214"/>
                </a:solidFill>
                <a:latin typeface="__Nunito_Sans_dc5584"/>
              </a:defRPr>
            </a:pPr>
            <a:r>
              <a:rPr sz="2500" b="0" i="0">
                <a:solidFill>
                  <a:srgbClr val="101214"/>
                </a:solidFill>
                <a:latin typeface="__Nunito_Sans_dc5584"/>
              </a:rPr>
              <a:t>📚 12–22% faster skill learning</a:t>
            </a:r>
          </a:p>
        </p:txBody>
      </p:sp>
      <p:sp>
        <p:nvSpPr>
          <p:cNvPr id="10" name="TextBox 9"/>
          <p:cNvSpPr txBox="1"/>
          <p:nvPr/>
        </p:nvSpPr>
        <p:spPr>
          <a:xfrm>
            <a:off x="990600" y="5981700"/>
            <a:ext cx="2984500" cy="431800"/>
          </a:xfrm>
          <a:prstGeom prst="rect">
            <a:avLst/>
          </a:prstGeom>
          <a:noFill/>
        </p:spPr>
        <p:txBody>
          <a:bodyPr wrap="square" lIns="0" tIns="0" rIns="0" bIns="0">
            <a:spAutoFit/>
          </a:bodyPr>
          <a:lstStyle/>
          <a:p>
            <a:pPr algn="l">
              <a:defRPr sz="2500" b="1" i="0">
                <a:solidFill>
                  <a:srgbClr val="101214"/>
                </a:solidFill>
                <a:latin typeface="__Nunito_Sans_dc5584"/>
              </a:defRPr>
            </a:pPr>
            <a:r>
              <a:rPr sz="2500" b="1" i="0">
                <a:solidFill>
                  <a:srgbClr val="101214"/>
                </a:solidFill>
                <a:latin typeface="__Nunito_Sans_dc5584"/>
              </a:rPr>
              <a:t>Market Opportunity</a:t>
            </a:r>
          </a:p>
        </p:txBody>
      </p:sp>
      <p:sp>
        <p:nvSpPr>
          <p:cNvPr id="11" name="TextBox 10"/>
          <p:cNvSpPr txBox="1"/>
          <p:nvPr/>
        </p:nvSpPr>
        <p:spPr>
          <a:xfrm>
            <a:off x="990600" y="6438900"/>
            <a:ext cx="6946900" cy="469900"/>
          </a:xfrm>
          <a:prstGeom prst="rect">
            <a:avLst/>
          </a:prstGeom>
          <a:noFill/>
        </p:spPr>
        <p:txBody>
          <a:bodyPr wrap="square" lIns="0" tIns="0" rIns="0" bIns="0">
            <a:spAutoFit/>
          </a:bodyPr>
          <a:lstStyle/>
          <a:p>
            <a:pPr algn="l">
              <a:defRPr sz="2500" b="0" i="0">
                <a:solidFill>
                  <a:srgbClr val="101214"/>
                </a:solidFill>
                <a:latin typeface="__Nunito_Sans_dc5584"/>
              </a:defRPr>
            </a:pPr>
            <a:r>
              <a:rPr sz="2500" b="0" i="0">
                <a:solidFill>
                  <a:srgbClr val="101214"/>
                </a:solidFill>
                <a:latin typeface="__Nunito_Sans_dc5584"/>
              </a:rPr>
              <a:t>MUSES spans multiple markets:</a:t>
            </a:r>
          </a:p>
        </p:txBody>
      </p:sp>
      <p:sp>
        <p:nvSpPr>
          <p:cNvPr id="12" name="TextBox 11"/>
          <p:cNvSpPr txBox="1"/>
          <p:nvPr/>
        </p:nvSpPr>
        <p:spPr>
          <a:xfrm>
            <a:off x="990600" y="6908800"/>
            <a:ext cx="6946900" cy="1409700"/>
          </a:xfrm>
          <a:prstGeom prst="rect">
            <a:avLst/>
          </a:prstGeom>
          <a:noFill/>
        </p:spPr>
        <p:txBody>
          <a:bodyPr wrap="square" lIns="0" tIns="0" rIns="0" bIns="0">
            <a:spAutoFit/>
          </a:bodyPr>
          <a:lstStyle/>
          <a:p>
            <a:pPr algn="l">
              <a:lnSpc>
                <a:spcPct val="120000"/>
              </a:lnSpc>
              <a:defRPr sz="2500" b="0" i="0">
                <a:solidFill>
                  <a:srgbClr val="101214"/>
                </a:solidFill>
                <a:latin typeface="__Nunito_Sans_dc5584"/>
              </a:defRPr>
            </a:pPr>
            <a:r>
              <a:rPr sz="2500" b="0" i="0">
                <a:solidFill>
                  <a:srgbClr val="101214"/>
                </a:solidFill>
                <a:latin typeface="__Nunito_Sans_dc5584"/>
              </a:rPr>
              <a:t>SectorSizeAI Vision$20B+AR /MR$40B+EdTech$30B+Smart Safety$25B+Career Tech$12B+Sports Tech$8B+</a:t>
            </a:r>
          </a:p>
        </p:txBody>
      </p:sp>
      <p:sp>
        <p:nvSpPr>
          <p:cNvPr id="13" name="TextBox 12"/>
          <p:cNvSpPr txBox="1"/>
          <p:nvPr/>
        </p:nvSpPr>
        <p:spPr>
          <a:xfrm>
            <a:off x="990600" y="8318500"/>
            <a:ext cx="6946900" cy="469900"/>
          </a:xfrm>
          <a:prstGeom prst="rect">
            <a:avLst/>
          </a:prstGeom>
          <a:noFill/>
        </p:spPr>
        <p:txBody>
          <a:bodyPr wrap="square" lIns="0" tIns="0" rIns="0" bIns="0">
            <a:spAutoFit/>
          </a:bodyPr>
          <a:lstStyle/>
          <a:p>
            <a:pPr algn="l">
              <a:defRPr sz="2500" b="0" i="0">
                <a:solidFill>
                  <a:srgbClr val="101214"/>
                </a:solidFill>
                <a:latin typeface="__Nunito_Sans_dc5584"/>
              </a:defRPr>
            </a:pPr>
            <a:r>
              <a:rPr sz="2500" b="1" i="0">
                <a:solidFill>
                  <a:srgbClr val="101214"/>
                </a:solidFill>
                <a:latin typeface="__Nunito_Sans_dc5584"/>
              </a:rPr>
              <a:t>Total Addressable Market ≈ $135B+</a:t>
            </a:r>
          </a:p>
        </p:txBody>
      </p:sp>
      <p:sp>
        <p:nvSpPr>
          <p:cNvPr id="14" name="Rounded Rectangle 13"/>
          <p:cNvSpPr/>
          <p:nvPr/>
        </p:nvSpPr>
        <p:spPr>
          <a:xfrm>
            <a:off x="15481300" y="31369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ounded Rectangle 14"/>
          <p:cNvSpPr/>
          <p:nvPr/>
        </p:nvSpPr>
        <p:spPr>
          <a:xfrm>
            <a:off x="15481300" y="35941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ounded Rectangle 15"/>
          <p:cNvSpPr/>
          <p:nvPr/>
        </p:nvSpPr>
        <p:spPr>
          <a:xfrm>
            <a:off x="15481300" y="40513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15481300" y="45085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ounded Rectangle 17"/>
          <p:cNvSpPr/>
          <p:nvPr/>
        </p:nvSpPr>
        <p:spPr>
          <a:xfrm>
            <a:off x="15481300" y="49657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ounded Rectangle 18"/>
          <p:cNvSpPr/>
          <p:nvPr/>
        </p:nvSpPr>
        <p:spPr>
          <a:xfrm>
            <a:off x="15481300" y="54229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ounded Rectangle 19"/>
          <p:cNvSpPr/>
          <p:nvPr/>
        </p:nvSpPr>
        <p:spPr>
          <a:xfrm>
            <a:off x="15481300" y="5867400"/>
            <a:ext cx="127000" cy="127000"/>
          </a:xfrm>
          <a:prstGeom prst="roundRect">
            <a:avLst>
              <a:gd name="adj" fmla="val 51171"/>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ounded Rectangle 20"/>
          <p:cNvSpPr/>
          <p:nvPr/>
        </p:nvSpPr>
        <p:spPr>
          <a:xfrm>
            <a:off x="86995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2" name="Picture 21" descr="1fcad5d0-7102-4a60-a3dd-4ad14db01e69.png"/>
          <p:cNvPicPr>
            <a:picLocks noChangeAspect="1"/>
          </p:cNvPicPr>
          <p:nvPr/>
        </p:nvPicPr>
        <p:blipFill>
          <a:blip r:embed="rId3"/>
          <a:stretch>
            <a:fillRect/>
          </a:stretch>
        </p:blipFill>
        <p:spPr>
          <a:xfrm>
            <a:off x="8699500" y="1447800"/>
            <a:ext cx="6248400" cy="6248400"/>
          </a:xfrm>
          <a:prstGeom prst="rect">
            <a:avLst/>
          </a:prstGeom>
        </p:spPr>
      </p:pic>
      <p:sp>
        <p:nvSpPr>
          <p:cNvPr id="23" name="Rounded Rectangle 22"/>
          <p:cNvSpPr/>
          <p:nvPr/>
        </p:nvSpPr>
        <p:spPr>
          <a:xfrm>
            <a:off x="76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Rounded Rectangle 23"/>
          <p:cNvSpPr/>
          <p:nvPr/>
        </p:nvSpPr>
        <p:spPr>
          <a:xfrm>
            <a:off x="457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ounded Rectangle 24"/>
          <p:cNvSpPr/>
          <p:nvPr/>
        </p:nvSpPr>
        <p:spPr>
          <a:xfrm>
            <a:off x="838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ounded Rectangle 25"/>
          <p:cNvSpPr/>
          <p:nvPr/>
        </p:nvSpPr>
        <p:spPr>
          <a:xfrm>
            <a:off x="1219200" y="76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ounded Rectangle 26"/>
          <p:cNvSpPr/>
          <p:nvPr/>
        </p:nvSpPr>
        <p:spPr>
          <a:xfrm>
            <a:off x="76200" y="457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457200" y="457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ounded Rectangle 28"/>
          <p:cNvSpPr/>
          <p:nvPr/>
        </p:nvSpPr>
        <p:spPr>
          <a:xfrm>
            <a:off x="838200" y="457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76200" y="838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457200" y="838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76200" y="1219200"/>
            <a:ext cx="127000" cy="127000"/>
          </a:xfrm>
          <a:prstGeom prst="roundRect">
            <a:avLst>
              <a:gd name="adj" fmla="val 4984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0" y="1155700"/>
            <a:ext cx="6692900" cy="1663700"/>
          </a:xfrm>
          <a:prstGeom prst="rect">
            <a:avLst/>
          </a:prstGeom>
          <a:noFill/>
        </p:spPr>
        <p:txBody>
          <a:bodyPr wrap="square" lIns="0" tIns="0" rIns="0" bIns="0">
            <a:spAutoFit/>
          </a:bodyPr>
          <a:lstStyle/>
          <a:p>
            <a:pPr algn="l">
              <a:lnSpc>
                <a:spcPct val="120000"/>
              </a:lnSpc>
              <a:defRPr sz="4400" b="1" i="0">
                <a:solidFill>
                  <a:srgbClr val="101214"/>
                </a:solidFill>
                <a:latin typeface="__Nunito_Sans_dc5584"/>
              </a:defRPr>
            </a:pPr>
            <a:r>
              <a:rPr sz="4400" b="1" i="0">
                <a:solidFill>
                  <a:srgbClr val="101214"/>
                </a:solidFill>
                <a:latin typeface="__Nunito_Sans_dc5584"/>
              </a:rPr>
              <a:t>Business Model &amp; Scalability</a:t>
            </a:r>
          </a:p>
        </p:txBody>
      </p:sp>
      <p:sp>
        <p:nvSpPr>
          <p:cNvPr id="3" name="TextBox 2"/>
          <p:cNvSpPr txBox="1"/>
          <p:nvPr/>
        </p:nvSpPr>
        <p:spPr>
          <a:xfrm>
            <a:off x="7772400" y="33020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Revenue Streams</a:t>
            </a:r>
          </a:p>
        </p:txBody>
      </p:sp>
      <p:sp>
        <p:nvSpPr>
          <p:cNvPr id="4" name="TextBox 3"/>
          <p:cNvSpPr txBox="1"/>
          <p:nvPr/>
        </p:nvSpPr>
        <p:spPr>
          <a:xfrm>
            <a:off x="7772400" y="3721100"/>
            <a:ext cx="6692900" cy="12573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Freemium offers guest access and basic analysis. Pro tier is $10/month for full features. Enterprise options begin at $1,000+/year.</a:t>
            </a:r>
          </a:p>
        </p:txBody>
      </p:sp>
      <p:sp>
        <p:nvSpPr>
          <p:cNvPr id="5" name="TextBox 4"/>
          <p:cNvSpPr txBox="1"/>
          <p:nvPr/>
        </p:nvSpPr>
        <p:spPr>
          <a:xfrm>
            <a:off x="7772400" y="54737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Why It Scales</a:t>
            </a:r>
          </a:p>
        </p:txBody>
      </p:sp>
      <p:sp>
        <p:nvSpPr>
          <p:cNvPr id="6" name="TextBox 5"/>
          <p:cNvSpPr txBox="1"/>
          <p:nvPr/>
        </p:nvSpPr>
        <p:spPr>
          <a:xfrm>
            <a:off x="7772400" y="5892800"/>
            <a:ext cx="6692900" cy="20955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One core intelligence supports expansion into multiple sectors. With API-ready capabilities, MUSES can venture into AR glasses, robotics, and smart cities. Capturing just 1% of the market equates to a $1.35B opportunity.</a:t>
            </a:r>
          </a:p>
        </p:txBody>
      </p:sp>
      <p:sp>
        <p:nvSpPr>
          <p:cNvPr id="7" name="Rounded Rectangle 6"/>
          <p:cNvSpPr/>
          <p:nvPr/>
        </p:nvSpPr>
        <p:spPr>
          <a:xfrm>
            <a:off x="5080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8" name="Picture 7" descr="523d64cb-9b9b-446c-9ace-d2c1d7431add.png"/>
          <p:cNvPicPr>
            <a:picLocks noChangeAspect="1"/>
          </p:cNvPicPr>
          <p:nvPr/>
        </p:nvPicPr>
        <p:blipFill>
          <a:blip r:embed="rId3"/>
          <a:stretch>
            <a:fillRect/>
          </a:stretch>
        </p:blipFill>
        <p:spPr>
          <a:xfrm>
            <a:off x="508000" y="1447800"/>
            <a:ext cx="6248400" cy="6248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0" y="2032000"/>
            <a:ext cx="6692900" cy="1663700"/>
          </a:xfrm>
          <a:prstGeom prst="rect">
            <a:avLst/>
          </a:prstGeom>
          <a:noFill/>
        </p:spPr>
        <p:txBody>
          <a:bodyPr wrap="square" lIns="0" tIns="0" rIns="0" bIns="0">
            <a:spAutoFit/>
          </a:bodyPr>
          <a:lstStyle/>
          <a:p>
            <a:pPr algn="l">
              <a:lnSpc>
                <a:spcPct val="120000"/>
              </a:lnSpc>
              <a:defRPr sz="4400" b="1" i="0">
                <a:solidFill>
                  <a:srgbClr val="101214"/>
                </a:solidFill>
                <a:latin typeface="__Nunito_Sans_dc5584"/>
              </a:defRPr>
            </a:pPr>
            <a:r>
              <a:rPr sz="4400" b="1" i="0">
                <a:solidFill>
                  <a:srgbClr val="101214"/>
                </a:solidFill>
                <a:latin typeface="__Nunito_Sans_dc5584"/>
              </a:rPr>
              <a:t>Image for Future &amp; Closing Slide</a:t>
            </a:r>
          </a:p>
        </p:txBody>
      </p:sp>
      <p:sp>
        <p:nvSpPr>
          <p:cNvPr id="3" name="TextBox 2"/>
          <p:cNvSpPr txBox="1"/>
          <p:nvPr/>
        </p:nvSpPr>
        <p:spPr>
          <a:xfrm>
            <a:off x="7772400" y="4178300"/>
            <a:ext cx="6692900" cy="304800"/>
          </a:xfrm>
          <a:prstGeom prst="rect">
            <a:avLst/>
          </a:prstGeom>
          <a:noFill/>
        </p:spPr>
        <p:txBody>
          <a:bodyPr wrap="square" lIns="0" tIns="0" rIns="0" bIns="0">
            <a:spAutoFit/>
          </a:bodyPr>
          <a:lstStyle/>
          <a:p>
            <a:pPr algn="l">
              <a:lnSpc>
                <a:spcPct val="64000"/>
              </a:lnSpc>
              <a:defRPr sz="2600" b="1" i="0">
                <a:solidFill>
                  <a:srgbClr val="454A80"/>
                </a:solidFill>
                <a:latin typeface="__Nunito_Sans_dc5584"/>
              </a:defRPr>
            </a:pPr>
            <a:r>
              <a:rPr sz="2600" b="1" i="0">
                <a:solidFill>
                  <a:srgbClr val="454A80"/>
                </a:solidFill>
                <a:latin typeface="__Nunito_Sans_dc5584"/>
              </a:rPr>
              <a:t>Visual Representation</a:t>
            </a:r>
          </a:p>
        </p:txBody>
      </p:sp>
      <p:sp>
        <p:nvSpPr>
          <p:cNvPr id="4" name="TextBox 3"/>
          <p:cNvSpPr txBox="1"/>
          <p:nvPr/>
        </p:nvSpPr>
        <p:spPr>
          <a:xfrm>
            <a:off x="7772400" y="4597400"/>
            <a:ext cx="6692900" cy="2514600"/>
          </a:xfrm>
          <a:prstGeom prst="rect">
            <a:avLst/>
          </a:prstGeom>
          <a:noFill/>
        </p:spPr>
        <p:txBody>
          <a:bodyPr wrap="square" lIns="0" tIns="0" rIns="0" bIns="0">
            <a:spAutoFit/>
          </a:bodyPr>
          <a:lstStyle/>
          <a:p>
            <a:pPr algn="l">
              <a:lnSpc>
                <a:spcPct val="120000"/>
              </a:lnSpc>
              <a:defRPr sz="2200" b="0" i="0">
                <a:solidFill>
                  <a:srgbClr val="101214"/>
                </a:solidFill>
                <a:latin typeface="__Nunito_Sans_dc5584"/>
              </a:defRPr>
            </a:pPr>
            <a:r>
              <a:rPr sz="2200" b="0" i="0">
                <a:solidFill>
                  <a:srgbClr val="101214"/>
                </a:solidFill>
                <a:latin typeface="__Nunito_Sans_dc5584"/>
              </a:rPr>
              <a:t>The image will depict a vibrant, futuristic city showcasing elements like AR glasses, drones flying, advanced robotics, and features that enhance urban safety, all working together harmoniously. The depiction should convey a sense of innovation and forward-thinking.</a:t>
            </a:r>
          </a:p>
        </p:txBody>
      </p:sp>
      <p:sp>
        <p:nvSpPr>
          <p:cNvPr id="5" name="Rounded Rectangle 4"/>
          <p:cNvSpPr/>
          <p:nvPr/>
        </p:nvSpPr>
        <p:spPr>
          <a:xfrm>
            <a:off x="508000" y="1447800"/>
            <a:ext cx="6248400" cy="6248400"/>
          </a:xfrm>
          <a:prstGeom prst="roundRect">
            <a:avLst>
              <a:gd name="adj" fmla="val 11967"/>
            </a:avLst>
          </a:prstGeom>
          <a:solidFill>
            <a:srgbClr val="D9D9D9"/>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6" name="Picture 5" descr="d3ce6679-2215-4fc2-aeaa-1f0fbb823dd0.png"/>
          <p:cNvPicPr>
            <a:picLocks noChangeAspect="1"/>
          </p:cNvPicPr>
          <p:nvPr/>
        </p:nvPicPr>
        <p:blipFill>
          <a:blip r:embed="rId3"/>
          <a:stretch>
            <a:fillRect/>
          </a:stretch>
        </p:blipFill>
        <p:spPr>
          <a:xfrm>
            <a:off x="508000" y="1447800"/>
            <a:ext cx="6248400" cy="6248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90600" y="1587500"/>
            <a:ext cx="6756400" cy="1092200"/>
          </a:xfrm>
          <a:prstGeom prst="rect">
            <a:avLst/>
          </a:prstGeom>
          <a:noFill/>
        </p:spPr>
        <p:txBody>
          <a:bodyPr wrap="square" lIns="0" tIns="0" rIns="0" bIns="0">
            <a:spAutoFit/>
          </a:bodyPr>
          <a:lstStyle/>
          <a:p>
            <a:pPr algn="l">
              <a:lnSpc>
                <a:spcPct val="80000"/>
              </a:lnSpc>
              <a:defRPr sz="7900" b="1" i="0">
                <a:solidFill>
                  <a:srgbClr val="454A80"/>
                </a:solidFill>
                <a:latin typeface="__Nunito_Sans_dc5584"/>
              </a:defRPr>
            </a:pPr>
            <a:r>
              <a:rPr sz="7900" b="1" i="0">
                <a:solidFill>
                  <a:srgbClr val="454A80"/>
                </a:solidFill>
                <a:latin typeface="__Nunito_Sans_dc5584"/>
              </a:rPr>
              <a:t>Thank You</a:t>
            </a:r>
          </a:p>
        </p:txBody>
      </p:sp>
      <p:sp>
        <p:nvSpPr>
          <p:cNvPr id="3" name="TextBox 2"/>
          <p:cNvSpPr txBox="1"/>
          <p:nvPr/>
        </p:nvSpPr>
        <p:spPr>
          <a:xfrm>
            <a:off x="990600" y="3060700"/>
            <a:ext cx="6756400" cy="546100"/>
          </a:xfrm>
          <a:prstGeom prst="rect">
            <a:avLst/>
          </a:prstGeom>
          <a:noFill/>
        </p:spPr>
        <p:txBody>
          <a:bodyPr wrap="square" lIns="0" tIns="0" rIns="0" bIns="0">
            <a:spAutoFit/>
          </a:bodyPr>
          <a:lstStyle/>
          <a:p>
            <a:pPr algn="l">
              <a:lnSpc>
                <a:spcPct val="80000"/>
              </a:lnSpc>
              <a:defRPr sz="3900" b="0" i="0">
                <a:solidFill>
                  <a:srgbClr val="101214"/>
                </a:solidFill>
                <a:latin typeface="__Nunito_Sans_dc5584"/>
              </a:defRPr>
            </a:pPr>
            <a:r>
              <a:rPr sz="3900" b="0" i="0">
                <a:solidFill>
                  <a:srgbClr val="101214"/>
                </a:solidFill>
                <a:latin typeface="__Nunito_Sans_dc5584"/>
              </a:rPr>
              <a:t>Your attention is appreciated</a:t>
            </a:r>
          </a:p>
        </p:txBody>
      </p:sp>
      <p:sp>
        <p:nvSpPr>
          <p:cNvPr id="4" name="TextBox 3"/>
          <p:cNvSpPr txBox="1"/>
          <p:nvPr/>
        </p:nvSpPr>
        <p:spPr>
          <a:xfrm>
            <a:off x="990600" y="7823200"/>
            <a:ext cx="6362700" cy="304800"/>
          </a:xfrm>
          <a:prstGeom prst="rect">
            <a:avLst/>
          </a:prstGeom>
          <a:noFill/>
        </p:spPr>
        <p:txBody>
          <a:bodyPr wrap="square" lIns="0" tIns="0" rIns="0" bIns="0">
            <a:spAutoFit/>
          </a:bodyPr>
          <a:lstStyle/>
          <a:p>
            <a:pPr algn="l">
              <a:lnSpc>
                <a:spcPct val="50000"/>
              </a:lnSpc>
              <a:defRPr sz="3000" b="0" i="0">
                <a:solidFill>
                  <a:srgbClr val="626F86"/>
                </a:solidFill>
                <a:latin typeface="__Nunito_Sans_dc5584"/>
              </a:defRPr>
            </a:pPr>
            <a:r>
              <a:rPr sz="3000" b="0" i="0">
                <a:solidFill>
                  <a:srgbClr val="626F86"/>
                </a:solidFill>
                <a:latin typeface="__Nunito_Sans_dc5584"/>
              </a:rPr>
              <a:t>Looking forward to our next steps</a:t>
            </a:r>
          </a:p>
        </p:txBody>
      </p:sp>
      <p:sp>
        <p:nvSpPr>
          <p:cNvPr id="5" name="Rounded Rectangle 4"/>
          <p:cNvSpPr/>
          <p:nvPr/>
        </p:nvSpPr>
        <p:spPr>
          <a:xfrm>
            <a:off x="8407400" y="-25400"/>
            <a:ext cx="9194800" cy="9194800"/>
          </a:xfrm>
          <a:prstGeom prst="roundRect">
            <a:avLst>
              <a:gd name="adj" fmla="val 7071"/>
            </a:avLst>
          </a:prstGeom>
          <a:solidFill>
            <a:srgbClr val="D9D9D9"/>
          </a:solidFill>
          <a:ln w="292100">
            <a:solidFill>
              <a:srgbClr val="7678B6"/>
            </a:solidFill>
          </a:ln>
          <a:effectLst>
            <a:outerShdw blurRad="635000" dist="317500" dir="90000" rotWithShape="0">
              <a:srgbClr val="000000">
                <a:alpha val="25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6" name="Picture 5" descr="d2fd96d0-476c-4f92-8a57-4a4a64b287f2.png"/>
          <p:cNvPicPr>
            <a:picLocks noChangeAspect="1"/>
          </p:cNvPicPr>
          <p:nvPr/>
        </p:nvPicPr>
        <p:blipFill>
          <a:blip r:embed="rId3"/>
          <a:stretch>
            <a:fillRect/>
          </a:stretch>
        </p:blipFill>
        <p:spPr>
          <a:xfrm>
            <a:off x="8801100" y="368300"/>
            <a:ext cx="8407400" cy="8407400"/>
          </a:xfrm>
          <a:prstGeom prst="rect">
            <a:avLst/>
          </a:prstGeom>
        </p:spPr>
      </p:pic>
      <p:sp>
        <p:nvSpPr>
          <p:cNvPr id="8" name="Rounded Rectangle 7"/>
          <p:cNvSpPr/>
          <p:nvPr/>
        </p:nvSpPr>
        <p:spPr>
          <a:xfrm>
            <a:off x="9702800" y="7658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Rounded Rectangle 8"/>
          <p:cNvSpPr/>
          <p:nvPr/>
        </p:nvSpPr>
        <p:spPr>
          <a:xfrm>
            <a:off x="9423400" y="7937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ounded Rectangle 9"/>
          <p:cNvSpPr/>
          <p:nvPr/>
        </p:nvSpPr>
        <p:spPr>
          <a:xfrm>
            <a:off x="9702800" y="7937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ounded Rectangle 10"/>
          <p:cNvSpPr/>
          <p:nvPr/>
        </p:nvSpPr>
        <p:spPr>
          <a:xfrm>
            <a:off x="9994900" y="7937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ounded Rectangle 11"/>
          <p:cNvSpPr/>
          <p:nvPr/>
        </p:nvSpPr>
        <p:spPr>
          <a:xfrm>
            <a:off x="91313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Rounded Rectangle 12"/>
          <p:cNvSpPr/>
          <p:nvPr/>
        </p:nvSpPr>
        <p:spPr>
          <a:xfrm>
            <a:off x="94234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ounded Rectangle 13"/>
          <p:cNvSpPr/>
          <p:nvPr/>
        </p:nvSpPr>
        <p:spPr>
          <a:xfrm>
            <a:off x="97028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ounded Rectangle 14"/>
          <p:cNvSpPr/>
          <p:nvPr/>
        </p:nvSpPr>
        <p:spPr>
          <a:xfrm>
            <a:off x="99949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ounded Rectangle 15"/>
          <p:cNvSpPr/>
          <p:nvPr/>
        </p:nvSpPr>
        <p:spPr>
          <a:xfrm>
            <a:off x="10274300" y="8216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88519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ounded Rectangle 17"/>
          <p:cNvSpPr/>
          <p:nvPr/>
        </p:nvSpPr>
        <p:spPr>
          <a:xfrm>
            <a:off x="91313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ounded Rectangle 18"/>
          <p:cNvSpPr/>
          <p:nvPr/>
        </p:nvSpPr>
        <p:spPr>
          <a:xfrm>
            <a:off x="94234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ounded Rectangle 19"/>
          <p:cNvSpPr/>
          <p:nvPr/>
        </p:nvSpPr>
        <p:spPr>
          <a:xfrm>
            <a:off x="97028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ounded Rectangle 20"/>
          <p:cNvSpPr/>
          <p:nvPr/>
        </p:nvSpPr>
        <p:spPr>
          <a:xfrm>
            <a:off x="99949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ounded Rectangle 21"/>
          <p:cNvSpPr/>
          <p:nvPr/>
        </p:nvSpPr>
        <p:spPr>
          <a:xfrm>
            <a:off x="102743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ounded Rectangle 22"/>
          <p:cNvSpPr/>
          <p:nvPr/>
        </p:nvSpPr>
        <p:spPr>
          <a:xfrm>
            <a:off x="10566400" y="8509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ounded Rectangle 24"/>
          <p:cNvSpPr/>
          <p:nvPr/>
        </p:nvSpPr>
        <p:spPr>
          <a:xfrm>
            <a:off x="9702800" y="13970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ounded Rectangle 25"/>
          <p:cNvSpPr/>
          <p:nvPr/>
        </p:nvSpPr>
        <p:spPr>
          <a:xfrm>
            <a:off x="9994900" y="1104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ounded Rectangle 26"/>
          <p:cNvSpPr/>
          <p:nvPr/>
        </p:nvSpPr>
        <p:spPr>
          <a:xfrm>
            <a:off x="9702800" y="1104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9423400" y="11049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ounded Rectangle 28"/>
          <p:cNvSpPr/>
          <p:nvPr/>
        </p:nvSpPr>
        <p:spPr>
          <a:xfrm>
            <a:off x="102743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99949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97028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94234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ounded Rectangle 32"/>
          <p:cNvSpPr/>
          <p:nvPr/>
        </p:nvSpPr>
        <p:spPr>
          <a:xfrm>
            <a:off x="9131300" y="8255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105664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ounded Rectangle 34"/>
          <p:cNvSpPr/>
          <p:nvPr/>
        </p:nvSpPr>
        <p:spPr>
          <a:xfrm>
            <a:off x="102743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ounded Rectangle 35"/>
          <p:cNvSpPr/>
          <p:nvPr/>
        </p:nvSpPr>
        <p:spPr>
          <a:xfrm>
            <a:off x="99949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ounded Rectangle 36"/>
          <p:cNvSpPr/>
          <p:nvPr/>
        </p:nvSpPr>
        <p:spPr>
          <a:xfrm>
            <a:off x="97028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ounded Rectangle 37"/>
          <p:cNvSpPr/>
          <p:nvPr/>
        </p:nvSpPr>
        <p:spPr>
          <a:xfrm>
            <a:off x="94234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91313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8851900" y="546100"/>
            <a:ext cx="88900" cy="88900"/>
          </a:xfrm>
          <a:prstGeom prst="roundRect">
            <a:avLst>
              <a:gd name="adj" fmla="val 53403"/>
            </a:avLst>
          </a:prstGeom>
          <a:solidFill>
            <a:srgbClr val="7678B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1168</Words>
  <Application>Microsoft Office PowerPoint</Application>
  <PresentationFormat>Custom</PresentationFormat>
  <Paragraphs>53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__Nunito_Sans_dc5584</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Vivan Sharma 027701</cp:lastModifiedBy>
  <cp:revision>2</cp:revision>
  <dcterms:created xsi:type="dcterms:W3CDTF">2013-01-27T09:14:16Z</dcterms:created>
  <dcterms:modified xsi:type="dcterms:W3CDTF">2026-02-09T17:35:39Z</dcterms:modified>
  <cp:category/>
</cp:coreProperties>
</file>